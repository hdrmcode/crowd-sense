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76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9" r:id="rId24"/>
    <p:sldId id="278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108" y="2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8048" y="113475"/>
            <a:ext cx="3076915" cy="112548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91624" y="266700"/>
            <a:ext cx="2590800" cy="6191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644" y="224739"/>
            <a:ext cx="1081471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2510" y="1048003"/>
            <a:ext cx="9884410" cy="355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70435" y="6616090"/>
            <a:ext cx="20065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ieee8023/covid-chestxray-datas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38668" y="399541"/>
            <a:ext cx="4496435" cy="1887220"/>
            <a:chOff x="7638668" y="399541"/>
            <a:chExt cx="4496435" cy="18872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38668" y="399541"/>
              <a:ext cx="4496308" cy="18868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3349" y="552449"/>
              <a:ext cx="4029075" cy="138112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209852" y="1904542"/>
            <a:ext cx="8352790" cy="430403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3200" spc="-30" dirty="0">
                <a:latin typeface="Times New Roman"/>
                <a:cs typeface="Times New Roman"/>
              </a:rPr>
              <a:t>Team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Members:</a:t>
            </a:r>
            <a:endParaRPr sz="3200" dirty="0">
              <a:latin typeface="Times New Roman"/>
              <a:cs typeface="Times New Roman"/>
            </a:endParaRPr>
          </a:p>
          <a:p>
            <a:pPr marL="870585" indent="-399415">
              <a:lnSpc>
                <a:spcPct val="100000"/>
              </a:lnSpc>
              <a:spcBef>
                <a:spcPts val="265"/>
              </a:spcBef>
              <a:buSzPct val="116363"/>
              <a:buAutoNum type="arabicPeriod"/>
              <a:tabLst>
                <a:tab pos="870585" algn="l"/>
              </a:tabLst>
            </a:pPr>
            <a:r>
              <a:rPr sz="2750" dirty="0">
                <a:latin typeface="Times New Roman"/>
                <a:cs typeface="Times New Roman"/>
              </a:rPr>
              <a:t>Hariduthram</a:t>
            </a:r>
            <a:r>
              <a:rPr sz="2750" spc="8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PS</a:t>
            </a:r>
            <a:r>
              <a:rPr sz="2750" spc="9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-</a:t>
            </a:r>
            <a:r>
              <a:rPr sz="2750" spc="10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2023BIFT07AED006</a:t>
            </a:r>
            <a:endParaRPr sz="2750" dirty="0">
              <a:latin typeface="Times New Roman"/>
              <a:cs typeface="Times New Roman"/>
            </a:endParaRPr>
          </a:p>
          <a:p>
            <a:pPr marL="829944" indent="-358775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829944" algn="l"/>
              </a:tabLst>
            </a:pPr>
            <a:r>
              <a:rPr sz="2750" dirty="0">
                <a:latin typeface="Times New Roman"/>
                <a:cs typeface="Times New Roman"/>
              </a:rPr>
              <a:t>S</a:t>
            </a:r>
            <a:r>
              <a:rPr lang="en-IN" sz="275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D</a:t>
            </a:r>
            <a:r>
              <a:rPr sz="2750" spc="2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Kowshik</a:t>
            </a:r>
            <a:r>
              <a:rPr sz="2750" spc="7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Raj</a:t>
            </a:r>
            <a:r>
              <a:rPr sz="2750" spc="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-</a:t>
            </a:r>
            <a:r>
              <a:rPr sz="2750" spc="3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2023BIFT07AED009</a:t>
            </a:r>
            <a:endParaRPr sz="2750" dirty="0">
              <a:latin typeface="Times New Roman"/>
              <a:cs typeface="Times New Roman"/>
            </a:endParaRPr>
          </a:p>
          <a:p>
            <a:pPr marL="822325" indent="-351155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822325" algn="l"/>
              </a:tabLst>
            </a:pPr>
            <a:r>
              <a:rPr sz="2750" dirty="0">
                <a:latin typeface="Times New Roman"/>
                <a:cs typeface="Times New Roman"/>
              </a:rPr>
              <a:t>S</a:t>
            </a:r>
            <a:r>
              <a:rPr sz="2750" spc="3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Hareehareen</a:t>
            </a:r>
            <a:r>
              <a:rPr sz="2750" spc="5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Heidenreich</a:t>
            </a:r>
            <a:r>
              <a:rPr sz="2750" spc="2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-</a:t>
            </a:r>
            <a:r>
              <a:rPr sz="2750" spc="2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2023BIFT07AED018</a:t>
            </a:r>
            <a:endParaRPr sz="2750" dirty="0">
              <a:latin typeface="Times New Roman"/>
              <a:cs typeface="Times New Roman"/>
            </a:endParaRPr>
          </a:p>
          <a:p>
            <a:pPr marL="825500" indent="-354330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825500" algn="l"/>
              </a:tabLst>
            </a:pPr>
            <a:r>
              <a:rPr sz="2750" dirty="0">
                <a:latin typeface="Times New Roman"/>
                <a:cs typeface="Times New Roman"/>
              </a:rPr>
              <a:t>Subhi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J</a:t>
            </a:r>
            <a:r>
              <a:rPr sz="2750" spc="6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-</a:t>
            </a:r>
            <a:r>
              <a:rPr sz="2750" spc="6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2023BIFT07AED012</a:t>
            </a:r>
            <a:endParaRPr sz="27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Name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Mentor: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Dr.Ummadi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Janardhan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Reddy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  <a:tabLst>
                <a:tab pos="1789430" algn="l"/>
                <a:tab pos="3269615" algn="l"/>
              </a:tabLst>
            </a:pPr>
            <a:r>
              <a:rPr lang="en-IN" sz="32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6IT1991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32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32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3200" spc="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09852" y="730585"/>
            <a:ext cx="3455417" cy="1252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6840" marR="5080" indent="-2644775" algn="l">
              <a:lnSpc>
                <a:spcPct val="120000"/>
              </a:lnSpc>
              <a:spcBef>
                <a:spcPts val="95"/>
              </a:spcBef>
            </a:pPr>
            <a:r>
              <a:rPr sz="3500" dirty="0"/>
              <a:t>Crowd</a:t>
            </a:r>
            <a:r>
              <a:rPr sz="3500" spc="-120" dirty="0"/>
              <a:t> </a:t>
            </a:r>
            <a:r>
              <a:rPr lang="en-IN" sz="3500" spc="-120" dirty="0"/>
              <a:t>Sense</a:t>
            </a:r>
            <a:r>
              <a:rPr sz="3500" spc="-160" dirty="0"/>
              <a:t> </a:t>
            </a:r>
            <a:br>
              <a:rPr lang="en-IN" sz="3500" spc="-160" dirty="0"/>
            </a:br>
            <a:endParaRPr sz="3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708152"/>
            <a:ext cx="5937885" cy="5890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Introduction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000"/>
              </a:spcBef>
              <a:buAutoNum type="arabicPeriod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Review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literature</a:t>
            </a:r>
            <a:endParaRPr sz="2400">
              <a:latin typeface="Times New Roman"/>
              <a:cs typeface="Times New Roman"/>
            </a:endParaRPr>
          </a:p>
          <a:p>
            <a:pPr marL="354330" indent="-341630">
              <a:lnSpc>
                <a:spcPct val="100000"/>
              </a:lnSpc>
              <a:spcBef>
                <a:spcPts val="2100"/>
              </a:spcBef>
              <a:buAutoNum type="arabicPeriod"/>
              <a:tabLst>
                <a:tab pos="354330" algn="l"/>
              </a:tabLst>
            </a:pPr>
            <a:r>
              <a:rPr sz="2400" dirty="0">
                <a:latin typeface="Times New Roman"/>
                <a:cs typeface="Times New Roman"/>
              </a:rPr>
              <a:t>Observations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literature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review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995"/>
              </a:spcBef>
              <a:buAutoNum type="arabicPeriod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Limitations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literature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review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005"/>
              </a:spcBef>
              <a:buAutoNum type="arabicPeriod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Definition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Proposed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Methodology</a:t>
            </a:r>
            <a:endParaRPr sz="2400">
              <a:latin typeface="Times New Roman"/>
              <a:cs typeface="Times New Roman"/>
            </a:endParaRPr>
          </a:p>
          <a:p>
            <a:pPr marL="926465" lvl="1" indent="-513080">
              <a:lnSpc>
                <a:spcPct val="100000"/>
              </a:lnSpc>
              <a:spcBef>
                <a:spcPts val="1105"/>
              </a:spcBef>
              <a:buAutoNum type="alphaLcPeriod"/>
              <a:tabLst>
                <a:tab pos="926465" algn="l"/>
              </a:tabLst>
            </a:pP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Statement</a:t>
            </a:r>
            <a:endParaRPr sz="2400">
              <a:latin typeface="Times New Roman"/>
              <a:cs typeface="Times New Roman"/>
            </a:endParaRPr>
          </a:p>
          <a:p>
            <a:pPr marL="926465" lvl="1" indent="-513080">
              <a:lnSpc>
                <a:spcPct val="100000"/>
              </a:lnSpc>
              <a:spcBef>
                <a:spcPts val="600"/>
              </a:spcBef>
              <a:buAutoNum type="alphaLcPeriod"/>
              <a:tabLst>
                <a:tab pos="926465" algn="l"/>
              </a:tabLst>
            </a:pPr>
            <a:r>
              <a:rPr sz="2400" dirty="0">
                <a:latin typeface="Times New Roman"/>
                <a:cs typeface="Times New Roman"/>
              </a:rPr>
              <a:t>Proposed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Research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/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Methodology</a:t>
            </a:r>
            <a:endParaRPr sz="2400">
              <a:latin typeface="Times New Roman"/>
              <a:cs typeface="Times New Roman"/>
            </a:endParaRPr>
          </a:p>
          <a:p>
            <a:pPr marL="926465" lvl="1" indent="-513080">
              <a:lnSpc>
                <a:spcPct val="100000"/>
              </a:lnSpc>
              <a:spcBef>
                <a:spcPts val="600"/>
              </a:spcBef>
              <a:buAutoNum type="alphaLcPeriod"/>
              <a:tabLst>
                <a:tab pos="926465" algn="l"/>
              </a:tabLst>
            </a:pPr>
            <a:r>
              <a:rPr sz="2400" spc="-10" dirty="0">
                <a:latin typeface="Times New Roman"/>
                <a:cs typeface="Times New Roman"/>
              </a:rPr>
              <a:t>Hardware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Requirements</a:t>
            </a:r>
            <a:endParaRPr sz="2400">
              <a:latin typeface="Times New Roman"/>
              <a:cs typeface="Times New Roman"/>
            </a:endParaRPr>
          </a:p>
          <a:p>
            <a:pPr marL="926465" lvl="1" indent="-513080">
              <a:lnSpc>
                <a:spcPct val="100000"/>
              </a:lnSpc>
              <a:spcBef>
                <a:spcPts val="600"/>
              </a:spcBef>
              <a:buAutoNum type="alphaLcPeriod"/>
              <a:tabLst>
                <a:tab pos="926465" algn="l"/>
              </a:tabLst>
            </a:pP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Requirements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505"/>
              </a:spcBef>
              <a:buAutoNum type="arabicPeriod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References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989"/>
              </a:spcBef>
              <a:buAutoNum type="arabicPeriod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Plagiarism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Report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21884" y="88214"/>
            <a:ext cx="13525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Agenda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058020" y="113525"/>
            <a:ext cx="3077210" cy="1125855"/>
            <a:chOff x="9058020" y="113525"/>
            <a:chExt cx="3077210" cy="11258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58020" y="113525"/>
              <a:ext cx="3076955" cy="112548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4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85130" y="308813"/>
            <a:ext cx="22256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058020" y="113525"/>
            <a:ext cx="3077210" cy="1125855"/>
            <a:chOff x="9058020" y="113525"/>
            <a:chExt cx="3077210" cy="1125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58020" y="113525"/>
              <a:ext cx="3076955" cy="112548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4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88644" y="1111453"/>
            <a:ext cx="10737850" cy="4103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Enhances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safety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emergency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response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large-</a:t>
            </a:r>
            <a:r>
              <a:rPr sz="2400" dirty="0">
                <a:latin typeface="Calibri"/>
                <a:cs typeface="Calibri"/>
              </a:rPr>
              <a:t>scale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events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concerts,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sports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sz="2400" spc="-10" dirty="0">
                <a:latin typeface="Calibri"/>
                <a:cs typeface="Calibri"/>
              </a:rPr>
              <a:t>matches,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festivals.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03299"/>
              </a:lnSpc>
              <a:spcBef>
                <a:spcPts val="60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35" dirty="0">
                <a:latin typeface="Calibri"/>
                <a:cs typeface="Calibri"/>
              </a:rPr>
              <a:t>Integrates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wearable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bands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continuously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heart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SpO₂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levels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attendees.</a:t>
            </a:r>
            <a:endParaRPr sz="2400">
              <a:latin typeface="Calibri"/>
              <a:cs typeface="Calibri"/>
            </a:endParaRPr>
          </a:p>
          <a:p>
            <a:pPr marL="355600" marR="256540" indent="-342900">
              <a:lnSpc>
                <a:spcPct val="100800"/>
              </a:lnSpc>
              <a:spcBef>
                <a:spcPts val="505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Enables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early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detection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abnormal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conditions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triggers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alerts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emergencies.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25" dirty="0">
                <a:latin typeface="Calibri"/>
                <a:cs typeface="Calibri"/>
              </a:rPr>
              <a:t>Provides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precise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tracking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rapid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medical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assistance.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20" dirty="0">
                <a:latin typeface="Calibri"/>
                <a:cs typeface="Calibri"/>
              </a:rPr>
              <a:t>Offers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crowd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density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analysis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visual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dashboards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organizers.</a:t>
            </a:r>
            <a:endParaRPr sz="2400">
              <a:latin typeface="Calibri"/>
              <a:cs typeface="Calibri"/>
            </a:endParaRPr>
          </a:p>
          <a:p>
            <a:pPr marL="355600" marR="203835" indent="-342900">
              <a:lnSpc>
                <a:spcPct val="100400"/>
              </a:lnSpc>
              <a:spcBef>
                <a:spcPts val="625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Combines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AI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analytics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IoT-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tracking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smart,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responsive,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health-</a:t>
            </a:r>
            <a:r>
              <a:rPr sz="2400" dirty="0">
                <a:latin typeface="Calibri"/>
                <a:cs typeface="Calibri"/>
              </a:rPr>
              <a:t>aware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2958" y="308813"/>
            <a:ext cx="34613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Review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10" dirty="0"/>
              <a:t>literature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058020" y="113525"/>
            <a:ext cx="3077210" cy="1125855"/>
            <a:chOff x="9058020" y="113525"/>
            <a:chExt cx="3077210" cy="1125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58020" y="113525"/>
              <a:ext cx="3076955" cy="112548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4" y="266700"/>
              <a:ext cx="2590800" cy="619125"/>
            </a:xfrm>
            <a:prstGeom prst="rect">
              <a:avLst/>
            </a:prstGeom>
          </p:spPr>
        </p:pic>
      </p:grp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287918"/>
              </p:ext>
            </p:extLst>
          </p:nvPr>
        </p:nvGraphicFramePr>
        <p:xfrm>
          <a:off x="120906" y="1067056"/>
          <a:ext cx="11950186" cy="5524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5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8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16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16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16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97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S.No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7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Author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7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5250" marR="174625">
                        <a:lnSpc>
                          <a:spcPct val="101099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Research/Method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ology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6520" marR="645795">
                        <a:lnSpc>
                          <a:spcPct val="101099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Performance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Metrics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Advantages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7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Disadvantages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57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dirty="0" err="1"/>
                        <a:t>Bh</a:t>
                      </a:r>
                      <a:r>
                        <a:rPr lang="en-IN" dirty="0"/>
                        <a:t>. Prashanthi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lang="en-US" dirty="0"/>
                        <a:t>AI-driven wearable IoT health monitoring using CNN, LSTM, Random Forest &amp; SVM with cloud-based predictive analytics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lang="en-US" dirty="0"/>
                        <a:t>Prediction accuracy (~96%), response time (&lt;3 sec), processing efficiency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lang="en-US" dirty="0"/>
                        <a:t>Real-time monitoring, early disease prediction, remote healthcare support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lang="en-US" dirty="0"/>
                        <a:t>Data privacy issues, interoperability challenges, cloud dependency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89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7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lang="en-IN" dirty="0"/>
                        <a:t>Suraj Gupta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97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n-US" dirty="0"/>
                        <a:t>IoT wearable system with machine learning for continuous physical and emotional health monitoring with anomaly detection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n-US" dirty="0"/>
                        <a:t>Validation accuracy (~85%), sensitivity, specificity, F1-score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n-US" dirty="0"/>
                        <a:t>Personalized feedback, stress detection, proactive health alerts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n-IN" dirty="0"/>
                        <a:t>Performance variation in dynamic conditions, battery limitations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296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09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lang="en-IN" dirty="0"/>
                        <a:t>Caroline Abreu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209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795"/>
                        </a:lnSpc>
                      </a:pPr>
                      <a:r>
                        <a:rPr lang="en-US" dirty="0"/>
                        <a:t>Review-based study on wearable biosensors for continuous physiological and biochemical monitoring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93980">
                        <a:lnSpc>
                          <a:spcPct val="101099"/>
                        </a:lnSpc>
                        <a:spcBef>
                          <a:spcPts val="570"/>
                        </a:spcBef>
                      </a:pPr>
                      <a:r>
                        <a:rPr lang="en-US" dirty="0"/>
                        <a:t>Sensor reliability, monitoring capability, clinical feasibility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337185">
                        <a:lnSpc>
                          <a:spcPct val="101099"/>
                        </a:lnSpc>
                        <a:spcBef>
                          <a:spcPts val="570"/>
                        </a:spcBef>
                      </a:pPr>
                      <a:r>
                        <a:rPr lang="en-IN" dirty="0"/>
                        <a:t>Continuous monitoring, preventive healthcare, non-invasive sensing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lang="en-US" dirty="0"/>
                        <a:t>Privacy concerns, lack of standardization, integration challenges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209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63852A1C-E703-842D-91E6-F7729D792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995769"/>
              </p:ext>
            </p:extLst>
          </p:nvPr>
        </p:nvGraphicFramePr>
        <p:xfrm>
          <a:off x="280036" y="228600"/>
          <a:ext cx="11631927" cy="61944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6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5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8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8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96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S.No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7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Author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7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5250" marR="174625">
                        <a:lnSpc>
                          <a:spcPct val="101099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Research/Method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ology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6520" marR="645795">
                        <a:lnSpc>
                          <a:spcPct val="101099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Performance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Metrics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Advantages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7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25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Disadvantages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57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6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dirty="0"/>
                        <a:t>Arnab Abhijit Chaudhuri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lang="en-IN" dirty="0"/>
                        <a:t>IoT-based cloud-integrated health monitoring system using ESP32, contactless IR temperature sensor and PPG pulse sensor with adaptive filtering &amp; cloud platforms (Blynk, </a:t>
                      </a:r>
                      <a:r>
                        <a:rPr lang="en-IN" dirty="0" err="1"/>
                        <a:t>ThingSpeak</a:t>
                      </a:r>
                      <a:r>
                        <a:rPr lang="en-IN" dirty="0"/>
                        <a:t>)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lang="en-US" dirty="0"/>
                        <a:t>Temperature accuracy (±0.3°C), heart rate accuracy (within 2–3 BPM), real-time cloud response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lang="en-US" dirty="0"/>
                        <a:t>Contactless monitoring, real-time remote access, low-cost portable design, accurate signal processing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lang="en-US" dirty="0"/>
                        <a:t>Motion noise affects pulse readings, requires Wi-Fi connectivity, limited parameters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69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lang="en-IN"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97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lang="en-IN" dirty="0"/>
                        <a:t>Surya Narayanan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97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n-US" dirty="0"/>
                        <a:t>AI-based crowd management system using machine learning, computer vision and real-time video analytics to monitor crowd density, predict behavior and support emergency response in smart public spaces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n-US" dirty="0"/>
                        <a:t>Tracking accuracy, prediction accuracy, system latency, response efficiency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n-US" dirty="0"/>
                        <a:t>Improves public safety, real-time crowd monitoring, supports early hazard detection and evacuation planning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n-US" dirty="0"/>
                        <a:t>Requires high computational resources, privacy concerns with video surveillance, performance depends on camera quality &amp; network stability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973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146428"/>
            <a:ext cx="10861675" cy="32264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1790" marR="5080" indent="-339090">
              <a:lnSpc>
                <a:spcPct val="100800"/>
              </a:lnSpc>
              <a:spcBef>
                <a:spcPts val="75"/>
              </a:spcBef>
              <a:buFont typeface="Calibri"/>
              <a:buAutoNum type="arabicPeriod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Most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existing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address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crowd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management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and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health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monitoring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separate 	solutions.</a:t>
            </a:r>
            <a:endParaRPr sz="2400">
              <a:latin typeface="Calibri"/>
              <a:cs typeface="Calibri"/>
            </a:endParaRPr>
          </a:p>
          <a:p>
            <a:pPr marL="351790" indent="-33909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351790" algn="l"/>
              </a:tabLst>
            </a:pPr>
            <a:r>
              <a:rPr sz="2400" spc="-20" dirty="0">
                <a:latin typeface="Calibri"/>
                <a:cs typeface="Calibri"/>
              </a:rPr>
              <a:t>Wearable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monitoring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enables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collection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battery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libri"/>
                <a:cs typeface="Calibri"/>
              </a:rPr>
              <a:t>connectivity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challenges.</a:t>
            </a:r>
            <a:endParaRPr sz="2400">
              <a:latin typeface="Calibri"/>
              <a:cs typeface="Calibri"/>
            </a:endParaRPr>
          </a:p>
          <a:p>
            <a:pPr marL="351790" marR="782955" indent="-339090">
              <a:lnSpc>
                <a:spcPct val="100800"/>
              </a:lnSpc>
              <a:spcBef>
                <a:spcPts val="505"/>
              </a:spcBef>
              <a:buAutoNum type="arabicPeriod" startAt="3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AI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provide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accurate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anomaly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detection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demand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computational 	power.</a:t>
            </a:r>
            <a:endParaRPr sz="2400">
              <a:latin typeface="Calibri"/>
              <a:cs typeface="Calibri"/>
            </a:endParaRPr>
          </a:p>
          <a:p>
            <a:pPr marL="351790" indent="-339090">
              <a:lnSpc>
                <a:spcPct val="100000"/>
              </a:lnSpc>
              <a:spcBef>
                <a:spcPts val="685"/>
              </a:spcBef>
              <a:buAutoNum type="arabicPeriod" startAt="3"/>
              <a:tabLst>
                <a:tab pos="351790" algn="l"/>
              </a:tabLst>
            </a:pP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lack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integrated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systems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tracking,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crowd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latin typeface="Calibri"/>
                <a:cs typeface="Calibri"/>
              </a:rPr>
              <a:t>density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visualization,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intelligent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navigation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unified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platform.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644" y="308813"/>
            <a:ext cx="71437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Observations</a:t>
            </a:r>
            <a:r>
              <a:rPr spc="-75" dirty="0"/>
              <a:t> </a:t>
            </a:r>
            <a:r>
              <a:rPr dirty="0"/>
              <a:t>from</a:t>
            </a:r>
            <a:r>
              <a:rPr spc="-12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spc="-20" dirty="0"/>
              <a:t>Literature</a:t>
            </a:r>
            <a:r>
              <a:rPr spc="-150" dirty="0"/>
              <a:t> </a:t>
            </a:r>
            <a:r>
              <a:rPr spc="-10" dirty="0"/>
              <a:t>Review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982075" y="57200"/>
            <a:ext cx="3190875" cy="1219835"/>
            <a:chOff x="8982075" y="57200"/>
            <a:chExt cx="3190875" cy="121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82075" y="57200"/>
              <a:ext cx="3190875" cy="1219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5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093724"/>
            <a:ext cx="10944225" cy="344042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527685" marR="1575435" indent="-515620">
              <a:lnSpc>
                <a:spcPct val="101200"/>
              </a:lnSpc>
              <a:spcBef>
                <a:spcPts val="65"/>
              </a:spcBef>
              <a:buFont typeface="Calibri"/>
              <a:buAutoNum type="arabicPeriod"/>
              <a:tabLst>
                <a:tab pos="527685" algn="l"/>
              </a:tabLst>
            </a:pPr>
            <a:r>
              <a:rPr sz="2600" dirty="0">
                <a:latin typeface="Calibri"/>
                <a:cs typeface="Calibri"/>
              </a:rPr>
              <a:t>Most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studies</a:t>
            </a:r>
            <a:r>
              <a:rPr sz="2600" spc="-1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focus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isolated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aspects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like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crowd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control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health monitoring,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integrated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system.</a:t>
            </a:r>
            <a:endParaRPr sz="2600">
              <a:latin typeface="Calibri"/>
              <a:cs typeface="Calibri"/>
            </a:endParaRPr>
          </a:p>
          <a:p>
            <a:pPr marL="527685" marR="5080" indent="-515620">
              <a:lnSpc>
                <a:spcPct val="101200"/>
              </a:lnSpc>
              <a:spcBef>
                <a:spcPts val="585"/>
              </a:spcBef>
              <a:buAutoNum type="arabicPeriod"/>
              <a:tabLst>
                <a:tab pos="527685" algn="l"/>
              </a:tabLst>
            </a:pPr>
            <a:r>
              <a:rPr sz="2600" spc="-20" dirty="0">
                <a:latin typeface="Calibri"/>
                <a:cs typeface="Calibri"/>
              </a:rPr>
              <a:t>Wearable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devices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face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battery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drain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connectivity</a:t>
            </a:r>
            <a:r>
              <a:rPr sz="2600" spc="-1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issues</a:t>
            </a:r>
            <a:r>
              <a:rPr sz="2600" spc="-1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during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continuous monitoring.</a:t>
            </a:r>
            <a:endParaRPr sz="2600">
              <a:latin typeface="Calibri"/>
              <a:cs typeface="Calibri"/>
            </a:endParaRPr>
          </a:p>
          <a:p>
            <a:pPr marL="527685" marR="6350" indent="-515620">
              <a:lnSpc>
                <a:spcPct val="101200"/>
              </a:lnSpc>
              <a:spcBef>
                <a:spcPts val="490"/>
              </a:spcBef>
              <a:buAutoNum type="arabicPeriod"/>
              <a:tabLst>
                <a:tab pos="527685" algn="l"/>
              </a:tabLst>
            </a:pPr>
            <a:r>
              <a:rPr sz="2600" dirty="0">
                <a:latin typeface="Calibri"/>
                <a:cs typeface="Calibri"/>
              </a:rPr>
              <a:t>AI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models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anomaly</a:t>
            </a:r>
            <a:r>
              <a:rPr sz="2600" spc="-1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detection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demand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high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computational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power,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affecting </a:t>
            </a:r>
            <a:r>
              <a:rPr sz="2600" spc="-40" dirty="0">
                <a:latin typeface="Calibri"/>
                <a:cs typeface="Calibri"/>
              </a:rPr>
              <a:t>real-</a:t>
            </a:r>
            <a:r>
              <a:rPr sz="2600" dirty="0">
                <a:latin typeface="Calibri"/>
                <a:cs typeface="Calibri"/>
              </a:rPr>
              <a:t>time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performance.</a:t>
            </a:r>
            <a:endParaRPr sz="2600">
              <a:latin typeface="Calibri"/>
              <a:cs typeface="Calibri"/>
            </a:endParaRPr>
          </a:p>
          <a:p>
            <a:pPr marL="527685" marR="1293495" indent="-515620">
              <a:lnSpc>
                <a:spcPct val="101200"/>
              </a:lnSpc>
              <a:spcBef>
                <a:spcPts val="590"/>
              </a:spcBef>
              <a:buAutoNum type="arabicPeriod"/>
              <a:tabLst>
                <a:tab pos="527685" algn="l"/>
              </a:tabLst>
            </a:pPr>
            <a:r>
              <a:rPr sz="2600" dirty="0">
                <a:latin typeface="Calibri"/>
                <a:cs typeface="Calibri"/>
              </a:rPr>
              <a:t>There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lack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real-</a:t>
            </a:r>
            <a:r>
              <a:rPr sz="2600" dirty="0">
                <a:latin typeface="Calibri"/>
                <a:cs typeface="Calibri"/>
              </a:rPr>
              <a:t>time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coordination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between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health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data,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crowd </a:t>
            </a:r>
            <a:r>
              <a:rPr sz="2600" dirty="0">
                <a:latin typeface="Calibri"/>
                <a:cs typeface="Calibri"/>
              </a:rPr>
              <a:t>analytics,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emergency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response</a:t>
            </a:r>
            <a:r>
              <a:rPr sz="2600" spc="-1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mechanisms.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644" y="308813"/>
            <a:ext cx="68529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Limitations</a:t>
            </a:r>
            <a:r>
              <a:rPr spc="-75" dirty="0"/>
              <a:t> </a:t>
            </a:r>
            <a:r>
              <a:rPr dirty="0"/>
              <a:t>from</a:t>
            </a:r>
            <a:r>
              <a:rPr spc="-120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spc="-20" dirty="0"/>
              <a:t>Literature</a:t>
            </a:r>
            <a:r>
              <a:rPr spc="-145" dirty="0"/>
              <a:t> </a:t>
            </a:r>
            <a:r>
              <a:rPr spc="-10" dirty="0"/>
              <a:t>Review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982075" y="57200"/>
            <a:ext cx="3190875" cy="1219835"/>
            <a:chOff x="8982075" y="57200"/>
            <a:chExt cx="3190875" cy="121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82075" y="57200"/>
              <a:ext cx="3190875" cy="1219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5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039748"/>
            <a:ext cx="10243820" cy="36683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63220" marR="5080" indent="-314325">
              <a:lnSpc>
                <a:spcPct val="100800"/>
              </a:lnSpc>
              <a:spcBef>
                <a:spcPts val="75"/>
              </a:spcBef>
              <a:buFont typeface="Arial"/>
              <a:buChar char="•"/>
              <a:tabLst>
                <a:tab pos="363220" algn="l"/>
                <a:tab pos="391795" algn="l"/>
              </a:tabLst>
            </a:pPr>
            <a:r>
              <a:rPr sz="2400" dirty="0">
                <a:latin typeface="Arial"/>
                <a:cs typeface="Arial"/>
              </a:rPr>
              <a:t>	</a:t>
            </a:r>
            <a:r>
              <a:rPr sz="2400" dirty="0">
                <a:latin typeface="Calibri"/>
                <a:cs typeface="Calibri"/>
              </a:rPr>
              <a:t>Managing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crowds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ensuring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attendee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safety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major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challenge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during </a:t>
            </a:r>
            <a:r>
              <a:rPr sz="2400" spc="-40" dirty="0">
                <a:latin typeface="Calibri"/>
                <a:cs typeface="Calibri"/>
              </a:rPr>
              <a:t>large-</a:t>
            </a:r>
            <a:r>
              <a:rPr sz="2400" dirty="0">
                <a:latin typeface="Calibri"/>
                <a:cs typeface="Calibri"/>
              </a:rPr>
              <a:t>scale </a:t>
            </a:r>
            <a:r>
              <a:rPr sz="2400" spc="-10" dirty="0">
                <a:latin typeface="Calibri"/>
                <a:cs typeface="Calibri"/>
              </a:rPr>
              <a:t>events.</a:t>
            </a:r>
            <a:endParaRPr sz="2400">
              <a:latin typeface="Calibri"/>
              <a:cs typeface="Calibri"/>
            </a:endParaRPr>
          </a:p>
          <a:p>
            <a:pPr marL="365760" marR="230504" indent="-315595">
              <a:lnSpc>
                <a:spcPct val="103400"/>
              </a:lnSpc>
              <a:spcBef>
                <a:spcPts val="600"/>
              </a:spcBef>
              <a:buChar char="•"/>
              <a:tabLst>
                <a:tab pos="365760" algn="l"/>
                <a:tab pos="393065" algn="l"/>
              </a:tabLst>
            </a:pPr>
            <a:r>
              <a:rPr sz="2400" dirty="0">
                <a:latin typeface="Arial"/>
                <a:cs typeface="Arial"/>
              </a:rPr>
              <a:t>	</a:t>
            </a:r>
            <a:r>
              <a:rPr sz="2400" dirty="0">
                <a:latin typeface="Calibri"/>
                <a:cs typeface="Calibri"/>
              </a:rPr>
              <a:t>Existing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focus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separately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crowd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management,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navigation,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health monitoring.</a:t>
            </a:r>
            <a:endParaRPr sz="2400">
              <a:latin typeface="Calibri"/>
              <a:cs typeface="Calibri"/>
            </a:endParaRPr>
          </a:p>
          <a:p>
            <a:pPr marL="361315" marR="1069340" indent="-311150">
              <a:lnSpc>
                <a:spcPct val="100800"/>
              </a:lnSpc>
              <a:spcBef>
                <a:spcPts val="505"/>
              </a:spcBef>
              <a:buChar char="•"/>
              <a:tabLst>
                <a:tab pos="361315" algn="l"/>
                <a:tab pos="393065" algn="l"/>
              </a:tabLst>
            </a:pPr>
            <a:r>
              <a:rPr sz="2400" dirty="0">
                <a:latin typeface="Arial"/>
                <a:cs typeface="Arial"/>
              </a:rPr>
              <a:t>	</a:t>
            </a:r>
            <a:r>
              <a:rPr sz="2400" dirty="0">
                <a:latin typeface="Calibri"/>
                <a:cs typeface="Calibri"/>
              </a:rPr>
              <a:t>Lack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integration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leads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delayed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emergency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response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inefficient coordination.</a:t>
            </a:r>
            <a:endParaRPr sz="2400">
              <a:latin typeface="Calibri"/>
              <a:cs typeface="Calibri"/>
            </a:endParaRPr>
          </a:p>
          <a:p>
            <a:pPr marL="390525" indent="-342900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39052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aims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develop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AI-</a:t>
            </a:r>
            <a:r>
              <a:rPr sz="2400" spc="-20" dirty="0">
                <a:latin typeface="Calibri"/>
                <a:cs typeface="Calibri"/>
              </a:rPr>
              <a:t>powered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combining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wearable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health</a:t>
            </a:r>
            <a:endParaRPr sz="2400">
              <a:latin typeface="Calibri"/>
              <a:cs typeface="Calibri"/>
            </a:endParaRPr>
          </a:p>
          <a:p>
            <a:pPr marL="39370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latin typeface="Calibri"/>
                <a:cs typeface="Calibri"/>
              </a:rPr>
              <a:t>tracking,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crowd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analysis,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location-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emergency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response.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ensures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55" dirty="0">
                <a:latin typeface="Calibri"/>
                <a:cs typeface="Calibri"/>
              </a:rPr>
              <a:t>safer,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smarter,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responsive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event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environment.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</a:t>
            </a:r>
            <a:r>
              <a:rPr spc="-120" dirty="0"/>
              <a:t> </a:t>
            </a:r>
            <a:r>
              <a:rPr dirty="0"/>
              <a:t>Statement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8982075" y="57200"/>
            <a:ext cx="3190875" cy="1219835"/>
            <a:chOff x="8982075" y="57200"/>
            <a:chExt cx="3190875" cy="121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82075" y="57200"/>
              <a:ext cx="3190875" cy="1219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5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039748"/>
            <a:ext cx="10275570" cy="402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Develop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AI-powered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integrates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wearable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health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bands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monitor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sz="2400" spc="-20" dirty="0">
                <a:latin typeface="Calibri"/>
                <a:cs typeface="Calibri"/>
              </a:rPr>
              <a:t>attendees’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heart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SpO₂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  <a:p>
            <a:pPr marL="355600" marR="1159510" indent="-342900">
              <a:lnSpc>
                <a:spcPct val="103400"/>
              </a:lnSpc>
              <a:spcBef>
                <a:spcPts val="595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AI-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anomaly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detection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identify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abnormal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conditions automatically.</a:t>
            </a:r>
            <a:endParaRPr sz="2400">
              <a:latin typeface="Calibri"/>
              <a:cs typeface="Calibri"/>
            </a:endParaRPr>
          </a:p>
          <a:p>
            <a:pPr marL="355600" marR="208915" indent="-342900">
              <a:lnSpc>
                <a:spcPct val="100800"/>
              </a:lnSpc>
              <a:spcBef>
                <a:spcPts val="50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Trigger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instant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emergency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alerts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share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location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details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on-</a:t>
            </a:r>
            <a:r>
              <a:rPr sz="2400" dirty="0">
                <a:latin typeface="Calibri"/>
                <a:cs typeface="Calibri"/>
              </a:rPr>
              <a:t>site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medical </a:t>
            </a:r>
            <a:r>
              <a:rPr sz="2400" dirty="0">
                <a:latin typeface="Calibri"/>
                <a:cs typeface="Calibri"/>
              </a:rPr>
              <a:t>teams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rapid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response.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Implement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crowd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density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visualization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prevent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overcrowding</a:t>
            </a:r>
            <a:r>
              <a:rPr sz="2400" spc="-25" dirty="0">
                <a:latin typeface="Calibri"/>
                <a:cs typeface="Calibri"/>
              </a:rPr>
              <a:t> and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latin typeface="Calibri"/>
                <a:cs typeface="Calibri"/>
              </a:rPr>
              <a:t>enhance</a:t>
            </a:r>
            <a:r>
              <a:rPr sz="2400" spc="-25" dirty="0">
                <a:latin typeface="Calibri"/>
                <a:cs typeface="Calibri"/>
              </a:rPr>
              <a:t> situational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awareness.</a:t>
            </a:r>
            <a:endParaRPr sz="2400">
              <a:latin typeface="Calibri"/>
              <a:cs typeface="Calibri"/>
            </a:endParaRPr>
          </a:p>
          <a:p>
            <a:pPr marL="355600" marR="70485" indent="-342900">
              <a:lnSpc>
                <a:spcPct val="100400"/>
              </a:lnSpc>
              <a:spcBef>
                <a:spcPts val="51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Create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centralized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dashboard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organizers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medical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staff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monitor </a:t>
            </a:r>
            <a:r>
              <a:rPr sz="2400" dirty="0">
                <a:latin typeface="Calibri"/>
                <a:cs typeface="Calibri"/>
              </a:rPr>
              <a:t>overall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safety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coordinate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responses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efficiently.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Proposed</a:t>
            </a:r>
            <a:r>
              <a:rPr spc="-105" dirty="0"/>
              <a:t> </a:t>
            </a:r>
            <a:r>
              <a:rPr dirty="0"/>
              <a:t>Idea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8982075" y="57200"/>
            <a:ext cx="3190875" cy="1219835"/>
            <a:chOff x="8982075" y="57200"/>
            <a:chExt cx="3190875" cy="121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82075" y="57200"/>
              <a:ext cx="3190875" cy="1219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5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973454"/>
            <a:ext cx="10514965" cy="334645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70" dirty="0">
                <a:latin typeface="Calibri"/>
                <a:cs typeface="Calibri"/>
              </a:rPr>
              <a:t>To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heart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SpO₂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attendees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wearable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devices.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60" dirty="0">
                <a:latin typeface="Calibri"/>
                <a:cs typeface="Calibri"/>
              </a:rPr>
              <a:t>To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detect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abnormal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conditions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AI-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anomaly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detection.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02099"/>
              </a:lnSpc>
              <a:spcBef>
                <a:spcPts val="4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70" dirty="0">
                <a:latin typeface="Calibri"/>
                <a:cs typeface="Calibri"/>
              </a:rPr>
              <a:t>To</a:t>
            </a:r>
            <a:r>
              <a:rPr sz="2400" spc="-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trigger</a:t>
            </a:r>
            <a:r>
              <a:rPr sz="2400" spc="-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instant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emergency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alerts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and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provide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accurate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location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tracking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quick </a:t>
            </a:r>
            <a:r>
              <a:rPr sz="2400" dirty="0">
                <a:latin typeface="Calibri"/>
                <a:cs typeface="Calibri"/>
              </a:rPr>
              <a:t>medical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response.</a:t>
            </a:r>
            <a:endParaRPr sz="2400">
              <a:latin typeface="Calibri"/>
              <a:cs typeface="Calibri"/>
            </a:endParaRPr>
          </a:p>
          <a:p>
            <a:pPr marL="355600" marR="911225" indent="-342900">
              <a:lnSpc>
                <a:spcPct val="100800"/>
              </a:lnSpc>
              <a:spcBef>
                <a:spcPts val="70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70" dirty="0">
                <a:latin typeface="Calibri"/>
                <a:cs typeface="Calibri"/>
              </a:rPr>
              <a:t>To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analyze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crowd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density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preventing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overcrowding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improving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safety management.</a:t>
            </a:r>
            <a:endParaRPr sz="2400">
              <a:latin typeface="Calibri"/>
              <a:cs typeface="Calibri"/>
            </a:endParaRPr>
          </a:p>
          <a:p>
            <a:pPr marL="355600" marR="115570" indent="-342900">
              <a:lnSpc>
                <a:spcPct val="100800"/>
              </a:lnSpc>
              <a:spcBef>
                <a:spcPts val="59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70" dirty="0">
                <a:latin typeface="Calibri"/>
                <a:cs typeface="Calibri"/>
              </a:rPr>
              <a:t>To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design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centralized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monitoring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dashboard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organizers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oversee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safety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conditions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effectively.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644" y="287782"/>
            <a:ext cx="86252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Objectives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dirty="0"/>
              <a:t>Idea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9267825" y="238175"/>
            <a:ext cx="2924175" cy="1219835"/>
            <a:chOff x="9267825" y="238175"/>
            <a:chExt cx="2924175" cy="121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67825" y="238175"/>
              <a:ext cx="2924175" cy="1219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77375" y="447675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039748"/>
            <a:ext cx="10719435" cy="366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ESP32-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wearable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bands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MAX30102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sensors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heart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sz="2400" dirty="0">
                <a:latin typeface="Calibri"/>
                <a:cs typeface="Calibri"/>
              </a:rPr>
              <a:t>SpO₂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data.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30" dirty="0">
                <a:latin typeface="Calibri"/>
                <a:cs typeface="Calibri"/>
              </a:rPr>
              <a:t>Transmit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beacons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local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gateways,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forward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cloud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servers.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800"/>
              </a:lnSpc>
              <a:spcBef>
                <a:spcPts val="7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Deploy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AI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(</a:t>
            </a:r>
            <a:r>
              <a:rPr lang="en-IN" sz="2400" spc="-30" dirty="0" err="1">
                <a:latin typeface="Calibri"/>
                <a:cs typeface="Calibri"/>
              </a:rPr>
              <a:t>XGBoost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analyze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vital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signs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detect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abnormal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health conditions.</a:t>
            </a:r>
            <a:endParaRPr sz="2400" dirty="0">
              <a:latin typeface="Calibri"/>
              <a:cs typeface="Calibri"/>
            </a:endParaRPr>
          </a:p>
          <a:p>
            <a:pPr marL="355600" marR="53975" indent="-342900">
              <a:lnSpc>
                <a:spcPct val="100800"/>
              </a:lnSpc>
              <a:spcBef>
                <a:spcPts val="49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Implement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backend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system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(FastAPI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+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Firebase/PostgreSQL)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manage </a:t>
            </a:r>
            <a:r>
              <a:rPr sz="2400" dirty="0">
                <a:latin typeface="Calibri"/>
                <a:cs typeface="Calibri"/>
              </a:rPr>
              <a:t>alerts,</a:t>
            </a:r>
            <a:r>
              <a:rPr sz="2400" spc="-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visualize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crowd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density.</a:t>
            </a:r>
            <a:endParaRPr sz="2400" dirty="0">
              <a:latin typeface="Calibri"/>
              <a:cs typeface="Calibri"/>
            </a:endParaRPr>
          </a:p>
          <a:p>
            <a:pPr marL="355600" marR="287020" indent="-342900">
              <a:lnSpc>
                <a:spcPct val="101699"/>
              </a:lnSpc>
              <a:spcBef>
                <a:spcPts val="50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Provide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event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control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center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dashboard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displaying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monitoring, </a:t>
            </a:r>
            <a:r>
              <a:rPr sz="2400" spc="-20" dirty="0">
                <a:latin typeface="Calibri"/>
                <a:cs typeface="Calibri"/>
              </a:rPr>
              <a:t>crowd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density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heatmaps,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emergency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notifications.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Proposed</a:t>
            </a:r>
            <a:r>
              <a:rPr spc="-135" dirty="0"/>
              <a:t> </a:t>
            </a:r>
            <a:r>
              <a:rPr dirty="0"/>
              <a:t>Research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8982075" y="57200"/>
            <a:ext cx="3190875" cy="1219835"/>
            <a:chOff x="8982075" y="57200"/>
            <a:chExt cx="3190875" cy="121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82075" y="57200"/>
              <a:ext cx="3190875" cy="1219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5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510" y="1048003"/>
            <a:ext cx="9687560" cy="2482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ESP32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microcontroller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MAX30102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sensors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heart</a:t>
            </a:r>
            <a:r>
              <a:rPr sz="2400" spc="-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SpO₂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sz="2400" spc="-10" dirty="0">
                <a:latin typeface="Calibri"/>
                <a:cs typeface="Calibri"/>
              </a:rPr>
              <a:t>monitoring.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BLE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beacons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transmitting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data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supporting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crowd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density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tracking.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30" dirty="0">
                <a:latin typeface="Calibri"/>
                <a:cs typeface="Calibri"/>
              </a:rPr>
              <a:t>Gateways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collecting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wearables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sending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cloud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servers.</a:t>
            </a:r>
            <a:endParaRPr sz="2400">
              <a:latin typeface="Calibri"/>
              <a:cs typeface="Calibri"/>
            </a:endParaRPr>
          </a:p>
          <a:p>
            <a:pPr marL="355600" marR="805815" indent="-342900">
              <a:lnSpc>
                <a:spcPct val="100800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25" dirty="0">
                <a:latin typeface="Calibri"/>
                <a:cs typeface="Calibri"/>
              </a:rPr>
              <a:t>Smartphones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tablets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(optional)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viewing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dashboards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alerts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by organizers/medical</a:t>
            </a:r>
            <a:r>
              <a:rPr sz="2400" spc="-10" dirty="0">
                <a:latin typeface="Calibri"/>
                <a:cs typeface="Calibri"/>
              </a:rPr>
              <a:t> staff.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05"/>
              </a:spcBef>
            </a:pPr>
            <a:r>
              <a:rPr dirty="0"/>
              <a:t>Hardware</a:t>
            </a:r>
            <a:r>
              <a:rPr spc="-229" dirty="0"/>
              <a:t> </a:t>
            </a:r>
            <a:r>
              <a:rPr spc="-10" dirty="0"/>
              <a:t>Requirements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982075" y="57200"/>
            <a:ext cx="3190875" cy="1219835"/>
            <a:chOff x="8982075" y="57200"/>
            <a:chExt cx="3190875" cy="121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82075" y="57200"/>
              <a:ext cx="3190875" cy="1219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5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510" y="979611"/>
            <a:ext cx="9492615" cy="296354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354965" algn="l"/>
              </a:tabLst>
            </a:pPr>
            <a:r>
              <a:rPr lang="en-IN" sz="2400" spc="-35" dirty="0" err="1">
                <a:latin typeface="Calibri"/>
                <a:cs typeface="Calibri"/>
              </a:rPr>
              <a:t>XGBoost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AI-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anomaly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detection.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FastAPI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backend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framework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handling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alert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management.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Firebase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/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PostgreSQL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cloud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database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storing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crowd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data.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2099"/>
              </a:lnSpc>
              <a:spcBef>
                <a:spcPts val="4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25" dirty="0">
                <a:latin typeface="Calibri"/>
                <a:cs typeface="Calibri"/>
              </a:rPr>
              <a:t>Dashboard/Visualization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Tools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crowd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density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heatmaps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emergency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notifications.</a:t>
            </a:r>
            <a:endParaRPr sz="2400" dirty="0">
              <a:latin typeface="Calibri"/>
              <a:cs typeface="Calibri"/>
            </a:endParaRPr>
          </a:p>
          <a:p>
            <a:pPr marL="355600" marR="77470" indent="-342900">
              <a:lnSpc>
                <a:spcPct val="100400"/>
              </a:lnSpc>
              <a:spcBef>
                <a:spcPts val="62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Optional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Mobile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organizers/medical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staff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receive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alerts.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05"/>
              </a:spcBef>
            </a:pPr>
            <a:r>
              <a:rPr dirty="0"/>
              <a:t>Software</a:t>
            </a:r>
            <a:r>
              <a:rPr spc="-190" dirty="0"/>
              <a:t> </a:t>
            </a:r>
            <a:r>
              <a:rPr spc="-10" dirty="0"/>
              <a:t>Requirements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058020" y="113525"/>
            <a:ext cx="3077210" cy="1125855"/>
            <a:chOff x="9058020" y="113525"/>
            <a:chExt cx="3077210" cy="11258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58020" y="113525"/>
              <a:ext cx="3076955" cy="112548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4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05"/>
              </a:spcBef>
            </a:pPr>
            <a:r>
              <a:rPr lang="en-IN" spc="-10" dirty="0"/>
              <a:t>Architecture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9058020" y="113525"/>
            <a:ext cx="3077210" cy="1125855"/>
            <a:chOff x="9058020" y="113525"/>
            <a:chExt cx="3077210" cy="11258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58020" y="113525"/>
              <a:ext cx="3076955" cy="112548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4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D8186C-6561-377F-2501-800DA8272A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78"/>
          <a:stretch>
            <a:fillRect/>
          </a:stretch>
        </p:blipFill>
        <p:spPr>
          <a:xfrm>
            <a:off x="1295400" y="1350225"/>
            <a:ext cx="8534400" cy="49568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510" y="1062989"/>
            <a:ext cx="9746615" cy="5000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Calibri"/>
              <a:buAutoNum type="arabicPeriod"/>
              <a:tabLst>
                <a:tab pos="469265" algn="l"/>
              </a:tabLst>
            </a:pPr>
            <a:r>
              <a:rPr sz="2150" dirty="0">
                <a:latin typeface="Calibri"/>
                <a:cs typeface="Calibri"/>
              </a:rPr>
              <a:t>Wearable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Health Monitoring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Module</a:t>
            </a:r>
            <a:endParaRPr sz="2150">
              <a:latin typeface="Calibri"/>
              <a:cs typeface="Calibri"/>
            </a:endParaRPr>
          </a:p>
          <a:p>
            <a:pPr marL="618490" lvl="1" indent="-149225">
              <a:lnSpc>
                <a:spcPct val="100000"/>
              </a:lnSpc>
              <a:spcBef>
                <a:spcPts val="100"/>
              </a:spcBef>
              <a:buChar char="-"/>
              <a:tabLst>
                <a:tab pos="618490" algn="l"/>
              </a:tabLst>
            </a:pPr>
            <a:r>
              <a:rPr sz="2150" dirty="0">
                <a:latin typeface="Calibri"/>
                <a:cs typeface="Calibri"/>
              </a:rPr>
              <a:t>ESP32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bands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with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MAX30102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sensors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collect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heart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rate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SpO₂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spc="-20" dirty="0">
                <a:latin typeface="Calibri"/>
                <a:cs typeface="Calibri"/>
              </a:rPr>
              <a:t>real</a:t>
            </a:r>
            <a:endParaRPr sz="215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95"/>
              </a:spcBef>
            </a:pPr>
            <a:r>
              <a:rPr sz="2150" spc="-10" dirty="0">
                <a:latin typeface="Calibri"/>
                <a:cs typeface="Calibri"/>
              </a:rPr>
              <a:t>time.</a:t>
            </a:r>
            <a:endParaRPr sz="215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AutoNum type="arabicPeriod" startAt="2"/>
              <a:tabLst>
                <a:tab pos="469265" algn="l"/>
              </a:tabLst>
            </a:pPr>
            <a:r>
              <a:rPr sz="2150" dirty="0">
                <a:latin typeface="Calibri"/>
                <a:cs typeface="Calibri"/>
              </a:rPr>
              <a:t>Data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Transmission</a:t>
            </a:r>
            <a:r>
              <a:rPr sz="2150" spc="-4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Module</a:t>
            </a:r>
            <a:endParaRPr sz="2150">
              <a:latin typeface="Calibri"/>
              <a:cs typeface="Calibri"/>
            </a:endParaRPr>
          </a:p>
          <a:p>
            <a:pPr marL="618490" lvl="1" indent="-149225">
              <a:lnSpc>
                <a:spcPct val="100000"/>
              </a:lnSpc>
              <a:buChar char="-"/>
              <a:tabLst>
                <a:tab pos="618490" algn="l"/>
              </a:tabLst>
            </a:pPr>
            <a:r>
              <a:rPr sz="2150" dirty="0">
                <a:latin typeface="Calibri"/>
                <a:cs typeface="Calibri"/>
              </a:rPr>
              <a:t>BLE</a:t>
            </a:r>
            <a:r>
              <a:rPr sz="2150" spc="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beacons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transmit</a:t>
            </a:r>
            <a:r>
              <a:rPr sz="2150" spc="-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local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gateways,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which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forward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it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cloud </a:t>
            </a:r>
            <a:r>
              <a:rPr sz="2150" spc="-10" dirty="0">
                <a:latin typeface="Calibri"/>
                <a:cs typeface="Calibri"/>
              </a:rPr>
              <a:t>servers.</a:t>
            </a:r>
            <a:endParaRPr sz="215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710"/>
              </a:spcBef>
              <a:buAutoNum type="arabicPeriod" startAt="2"/>
              <a:tabLst>
                <a:tab pos="469265" algn="l"/>
              </a:tabLst>
            </a:pPr>
            <a:r>
              <a:rPr sz="2150" spc="-10" dirty="0">
                <a:latin typeface="Calibri"/>
                <a:cs typeface="Calibri"/>
              </a:rPr>
              <a:t>AI-</a:t>
            </a:r>
            <a:r>
              <a:rPr sz="2150" dirty="0">
                <a:latin typeface="Calibri"/>
                <a:cs typeface="Calibri"/>
              </a:rPr>
              <a:t>Based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Health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Analysis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Module</a:t>
            </a:r>
            <a:endParaRPr sz="2150">
              <a:latin typeface="Calibri"/>
              <a:cs typeface="Calibri"/>
            </a:endParaRPr>
          </a:p>
          <a:p>
            <a:pPr marL="618490" lvl="1" indent="-149225">
              <a:lnSpc>
                <a:spcPct val="100000"/>
              </a:lnSpc>
              <a:spcBef>
                <a:spcPts val="95"/>
              </a:spcBef>
              <a:buChar char="-"/>
              <a:tabLst>
                <a:tab pos="618490" algn="l"/>
              </a:tabLst>
            </a:pPr>
            <a:r>
              <a:rPr sz="2150" dirty="0">
                <a:latin typeface="Calibri"/>
                <a:cs typeface="Calibri"/>
              </a:rPr>
              <a:t>TensorFlow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Lite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models analyze</a:t>
            </a:r>
            <a:r>
              <a:rPr sz="2150" spc="-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vitals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detect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abnormal</a:t>
            </a:r>
            <a:r>
              <a:rPr sz="2150" spc="-4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conditions</a:t>
            </a:r>
            <a:endParaRPr sz="215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sz="2150" spc="-10" dirty="0">
                <a:latin typeface="Calibri"/>
                <a:cs typeface="Calibri"/>
              </a:rPr>
              <a:t>automatically.</a:t>
            </a:r>
            <a:endParaRPr sz="215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AutoNum type="arabicPeriod" startAt="4"/>
              <a:tabLst>
                <a:tab pos="469265" algn="l"/>
              </a:tabLst>
            </a:pPr>
            <a:r>
              <a:rPr sz="2150" dirty="0">
                <a:latin typeface="Calibri"/>
                <a:cs typeface="Calibri"/>
              </a:rPr>
              <a:t>Emergency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Alert </a:t>
            </a:r>
            <a:r>
              <a:rPr sz="2150" spc="-10" dirty="0">
                <a:latin typeface="Calibri"/>
                <a:cs typeface="Calibri"/>
              </a:rPr>
              <a:t>Module</a:t>
            </a:r>
            <a:endParaRPr sz="2150">
              <a:latin typeface="Calibri"/>
              <a:cs typeface="Calibri"/>
            </a:endParaRPr>
          </a:p>
          <a:p>
            <a:pPr marL="618490" lvl="1" indent="-149225">
              <a:lnSpc>
                <a:spcPct val="100000"/>
              </a:lnSpc>
              <a:spcBef>
                <a:spcPts val="10"/>
              </a:spcBef>
              <a:buChar char="-"/>
              <a:tabLst>
                <a:tab pos="618490" algn="l"/>
              </a:tabLst>
            </a:pPr>
            <a:r>
              <a:rPr sz="2150" dirty="0">
                <a:latin typeface="Calibri"/>
                <a:cs typeface="Calibri"/>
              </a:rPr>
              <a:t>Generates</a:t>
            </a:r>
            <a:r>
              <a:rPr sz="2150" spc="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instant</a:t>
            </a:r>
            <a:r>
              <a:rPr sz="2150" spc="-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alerts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with</a:t>
            </a:r>
            <a:r>
              <a:rPr sz="2150" spc="-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location</a:t>
            </a:r>
            <a:r>
              <a:rPr sz="2150" spc="-1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affected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individuals</a:t>
            </a:r>
            <a:r>
              <a:rPr sz="2150" spc="-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-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rapid</a:t>
            </a:r>
            <a:r>
              <a:rPr sz="2150" spc="-3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medical</a:t>
            </a:r>
            <a:endParaRPr sz="215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120"/>
              </a:spcBef>
            </a:pPr>
            <a:r>
              <a:rPr sz="2150" spc="-10" dirty="0">
                <a:latin typeface="Calibri"/>
                <a:cs typeface="Calibri"/>
              </a:rPr>
              <a:t>response.</a:t>
            </a:r>
            <a:endParaRPr sz="2150">
              <a:latin typeface="Calibri"/>
              <a:cs typeface="Calibri"/>
            </a:endParaRPr>
          </a:p>
          <a:p>
            <a:pPr marL="469265" indent="-456565">
              <a:lnSpc>
                <a:spcPts val="2560"/>
              </a:lnSpc>
              <a:spcBef>
                <a:spcPts val="615"/>
              </a:spcBef>
              <a:buAutoNum type="arabicPeriod" startAt="5"/>
              <a:tabLst>
                <a:tab pos="469265" algn="l"/>
              </a:tabLst>
            </a:pPr>
            <a:r>
              <a:rPr sz="2150" dirty="0">
                <a:latin typeface="Calibri"/>
                <a:cs typeface="Calibri"/>
              </a:rPr>
              <a:t>Crowd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Monitoring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&amp;</a:t>
            </a:r>
            <a:r>
              <a:rPr sz="2150" spc="-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Visualization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Module</a:t>
            </a:r>
            <a:endParaRPr sz="2150">
              <a:latin typeface="Calibri"/>
              <a:cs typeface="Calibri"/>
            </a:endParaRPr>
          </a:p>
          <a:p>
            <a:pPr marL="469265" marR="565150" lvl="1" indent="149225">
              <a:lnSpc>
                <a:spcPts val="2630"/>
              </a:lnSpc>
              <a:spcBef>
                <a:spcPts val="25"/>
              </a:spcBef>
              <a:buChar char="-"/>
              <a:tabLst>
                <a:tab pos="618490" algn="l"/>
              </a:tabLst>
            </a:pPr>
            <a:r>
              <a:rPr sz="2150" dirty="0">
                <a:latin typeface="Calibri"/>
                <a:cs typeface="Calibri"/>
              </a:rPr>
              <a:t>Displays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real-</a:t>
            </a:r>
            <a:r>
              <a:rPr sz="2150" dirty="0">
                <a:latin typeface="Calibri"/>
                <a:cs typeface="Calibri"/>
              </a:rPr>
              <a:t>time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crowd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density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heatmaps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health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status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dashboards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for </a:t>
            </a:r>
            <a:r>
              <a:rPr sz="2150" dirty="0">
                <a:latin typeface="Calibri"/>
                <a:cs typeface="Calibri"/>
              </a:rPr>
              <a:t>organizers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medical</a:t>
            </a:r>
            <a:r>
              <a:rPr sz="2150" spc="-10" dirty="0">
                <a:latin typeface="Calibri"/>
                <a:cs typeface="Calibri"/>
              </a:rPr>
              <a:t> teams.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05"/>
              </a:spcBef>
            </a:pPr>
            <a:r>
              <a:rPr dirty="0"/>
              <a:t>Proposed</a:t>
            </a:r>
            <a:r>
              <a:rPr spc="-180" dirty="0"/>
              <a:t> </a:t>
            </a:r>
            <a:r>
              <a:rPr spc="-10" dirty="0"/>
              <a:t>Modules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058020" y="113525"/>
            <a:ext cx="3077210" cy="1125855"/>
            <a:chOff x="9058020" y="113525"/>
            <a:chExt cx="3077210" cy="11258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58020" y="113525"/>
              <a:ext cx="3076955" cy="112548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4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2510" y="1048003"/>
            <a:ext cx="9768840" cy="40144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69265" marR="311150" indent="-457200">
              <a:lnSpc>
                <a:spcPct val="100800"/>
              </a:lnSpc>
              <a:spcBef>
                <a:spcPts val="75"/>
              </a:spcBef>
              <a:buFont typeface="Calibri"/>
              <a:buAutoNum type="arabicPeriod"/>
              <a:tabLst>
                <a:tab pos="535305" algn="l"/>
              </a:tabLst>
            </a:pPr>
            <a:r>
              <a:rPr sz="2400" spc="-25" dirty="0">
                <a:latin typeface="Calibri"/>
                <a:cs typeface="Calibri"/>
              </a:rPr>
              <a:t>Integrated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Approach: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wearable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health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monitoring,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AI-</a:t>
            </a:r>
            <a:r>
              <a:rPr sz="2400" spc="-10" dirty="0">
                <a:latin typeface="Calibri"/>
                <a:cs typeface="Calibri"/>
              </a:rPr>
              <a:t>based 	</a:t>
            </a:r>
            <a:r>
              <a:rPr sz="2400" dirty="0">
                <a:latin typeface="Calibri"/>
                <a:cs typeface="Calibri"/>
              </a:rPr>
              <a:t>anomaly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detection,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crowd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management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469265" marR="389255" indent="-37211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469265" algn="l"/>
                <a:tab pos="554990" algn="l"/>
              </a:tabLst>
            </a:pP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Proactive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Emergency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Response: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Automatically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health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issues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alerts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medical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teams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instantly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precise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tracking.</a:t>
            </a:r>
            <a:endParaRPr sz="2400">
              <a:latin typeface="Calibri"/>
              <a:cs typeface="Calibri"/>
            </a:endParaRPr>
          </a:p>
          <a:p>
            <a:pPr marL="469265" marR="5080" indent="-457200">
              <a:lnSpc>
                <a:spcPct val="100400"/>
              </a:lnSpc>
              <a:spcBef>
                <a:spcPts val="520"/>
              </a:spcBef>
              <a:buAutoNum type="arabicPeriod"/>
              <a:tabLst>
                <a:tab pos="469265" algn="l"/>
              </a:tabLst>
            </a:pPr>
            <a:r>
              <a:rPr sz="2400" spc="-40" dirty="0">
                <a:latin typeface="Calibri"/>
                <a:cs typeface="Calibri"/>
              </a:rPr>
              <a:t>Real-</a:t>
            </a:r>
            <a:r>
              <a:rPr sz="2400" spc="-10" dirty="0">
                <a:latin typeface="Calibri"/>
                <a:cs typeface="Calibri"/>
              </a:rPr>
              <a:t>Time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Crowd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Insights: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Provides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live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crowd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density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visualization,</a:t>
            </a:r>
            <a:r>
              <a:rPr sz="2400" spc="6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enabling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organizers</a:t>
            </a:r>
            <a:r>
              <a:rPr sz="2400" spc="-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prevent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overcrowding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efficiently.</a:t>
            </a:r>
            <a:endParaRPr sz="2400">
              <a:latin typeface="Calibri"/>
              <a:cs typeface="Calibri"/>
            </a:endParaRPr>
          </a:p>
          <a:p>
            <a:pPr marL="469265" marR="672465" indent="-457200">
              <a:lnSpc>
                <a:spcPct val="103299"/>
              </a:lnSpc>
              <a:spcBef>
                <a:spcPts val="600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Calibri"/>
                <a:cs typeface="Calibri"/>
              </a:rPr>
              <a:t>IoT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AI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Synergy: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Leverages</a:t>
            </a:r>
            <a:r>
              <a:rPr sz="2400" spc="-50" dirty="0">
                <a:latin typeface="Calibri"/>
                <a:cs typeface="Calibri"/>
              </a:rPr>
              <a:t> ESP32-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wearables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lightweight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AI </a:t>
            </a:r>
            <a:r>
              <a:rPr sz="2400" spc="-10" dirty="0">
                <a:latin typeface="Calibri"/>
                <a:cs typeface="Calibri"/>
              </a:rPr>
              <a:t>models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efficient,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low-</a:t>
            </a:r>
            <a:r>
              <a:rPr sz="2400" dirty="0">
                <a:latin typeface="Calibri"/>
                <a:cs typeface="Calibri"/>
              </a:rPr>
              <a:t>latency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monitoring.</a:t>
            </a:r>
            <a:endParaRPr sz="2400">
              <a:latin typeface="Calibri"/>
              <a:cs typeface="Calibri"/>
            </a:endParaRPr>
          </a:p>
          <a:p>
            <a:pPr marL="469265" marR="66675" indent="-457200">
              <a:lnSpc>
                <a:spcPct val="100800"/>
              </a:lnSpc>
              <a:spcBef>
                <a:spcPts val="509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Calibri"/>
                <a:cs typeface="Calibri"/>
              </a:rPr>
              <a:t>Scalable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Flexible: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deployed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concerts,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sports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festivals,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</a:t>
            </a:r>
            <a:r>
              <a:rPr sz="2400" spc="-20" dirty="0">
                <a:latin typeface="Calibri"/>
                <a:cs typeface="Calibri"/>
              </a:rPr>
              <a:t>any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public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gatherings.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05"/>
              </a:spcBef>
            </a:pPr>
            <a:r>
              <a:rPr dirty="0"/>
              <a:t>Novelty</a:t>
            </a:r>
            <a:r>
              <a:rPr spc="-11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dirty="0"/>
              <a:t>the</a:t>
            </a:r>
            <a:r>
              <a:rPr spc="-114" dirty="0"/>
              <a:t> </a:t>
            </a:r>
            <a:r>
              <a:rPr dirty="0"/>
              <a:t>Proposed</a:t>
            </a:r>
            <a:r>
              <a:rPr spc="-55" dirty="0"/>
              <a:t> </a:t>
            </a:r>
            <a:r>
              <a:rPr dirty="0"/>
              <a:t>Idea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8982075" y="57200"/>
            <a:ext cx="3190875" cy="1219835"/>
            <a:chOff x="8982075" y="57200"/>
            <a:chExt cx="3190875" cy="121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82075" y="57200"/>
              <a:ext cx="3190875" cy="1219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5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21334" marR="5080" indent="-457200">
              <a:lnSpc>
                <a:spcPct val="100800"/>
              </a:lnSpc>
              <a:spcBef>
                <a:spcPts val="75"/>
              </a:spcBef>
              <a:buFont typeface="Calibri"/>
              <a:buAutoNum type="arabicPeriod"/>
              <a:tabLst>
                <a:tab pos="547370" algn="l"/>
              </a:tabLst>
            </a:pPr>
            <a:r>
              <a:rPr dirty="0"/>
              <a:t>The</a:t>
            </a:r>
            <a:r>
              <a:rPr spc="-95" dirty="0"/>
              <a:t> </a:t>
            </a:r>
            <a:r>
              <a:rPr dirty="0"/>
              <a:t>proposed</a:t>
            </a:r>
            <a:r>
              <a:rPr spc="-70" dirty="0"/>
              <a:t> </a:t>
            </a:r>
            <a:r>
              <a:rPr spc="-25" dirty="0"/>
              <a:t>AI-</a:t>
            </a:r>
            <a:r>
              <a:rPr spc="-20" dirty="0"/>
              <a:t>powered</a:t>
            </a:r>
            <a:r>
              <a:rPr spc="-90" dirty="0"/>
              <a:t> </a:t>
            </a:r>
            <a:r>
              <a:rPr dirty="0"/>
              <a:t>Crowd</a:t>
            </a:r>
            <a:r>
              <a:rPr spc="-110" dirty="0"/>
              <a:t> </a:t>
            </a:r>
            <a:r>
              <a:rPr spc="-20" dirty="0"/>
              <a:t>Management</a:t>
            </a:r>
            <a:r>
              <a:rPr spc="-100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dirty="0"/>
              <a:t>Health</a:t>
            </a:r>
            <a:r>
              <a:rPr spc="-114" dirty="0"/>
              <a:t> </a:t>
            </a:r>
            <a:r>
              <a:rPr dirty="0"/>
              <a:t>Monitoring</a:t>
            </a:r>
            <a:r>
              <a:rPr spc="-50" dirty="0"/>
              <a:t> </a:t>
            </a:r>
            <a:r>
              <a:rPr spc="-10" dirty="0"/>
              <a:t>System 	</a:t>
            </a:r>
            <a:r>
              <a:rPr dirty="0"/>
              <a:t>ensures</a:t>
            </a:r>
            <a:r>
              <a:rPr spc="-75" dirty="0"/>
              <a:t> </a:t>
            </a:r>
            <a:r>
              <a:rPr spc="-40" dirty="0"/>
              <a:t>real-</a:t>
            </a:r>
            <a:r>
              <a:rPr dirty="0"/>
              <a:t>time</a:t>
            </a:r>
            <a:r>
              <a:rPr spc="-120" dirty="0"/>
              <a:t> </a:t>
            </a:r>
            <a:r>
              <a:rPr dirty="0"/>
              <a:t>monitoring</a:t>
            </a:r>
            <a:r>
              <a:rPr spc="-13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spc="-10" dirty="0"/>
              <a:t>attendees’</a:t>
            </a:r>
            <a:r>
              <a:rPr spc="-40" dirty="0"/>
              <a:t> </a:t>
            </a:r>
            <a:r>
              <a:rPr dirty="0"/>
              <a:t>health</a:t>
            </a:r>
            <a:r>
              <a:rPr spc="-95" dirty="0"/>
              <a:t> </a:t>
            </a:r>
            <a:r>
              <a:rPr dirty="0"/>
              <a:t>during</a:t>
            </a:r>
            <a:r>
              <a:rPr spc="-120" dirty="0"/>
              <a:t> </a:t>
            </a:r>
            <a:r>
              <a:rPr spc="-25" dirty="0"/>
              <a:t>large-</a:t>
            </a:r>
            <a:r>
              <a:rPr dirty="0"/>
              <a:t>scale</a:t>
            </a:r>
            <a:r>
              <a:rPr spc="-35" dirty="0"/>
              <a:t> </a:t>
            </a:r>
            <a:r>
              <a:rPr spc="-10" dirty="0"/>
              <a:t>events.</a:t>
            </a:r>
          </a:p>
          <a:p>
            <a:pPr marL="467995" marR="898525" indent="-455930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469265" algn="l"/>
              </a:tabLst>
            </a:pPr>
            <a:r>
              <a:rPr dirty="0"/>
              <a:t>It</a:t>
            </a:r>
            <a:r>
              <a:rPr spc="-100" dirty="0"/>
              <a:t> </a:t>
            </a:r>
            <a:r>
              <a:rPr dirty="0"/>
              <a:t>enables</a:t>
            </a:r>
            <a:r>
              <a:rPr spc="-65" dirty="0"/>
              <a:t> </a:t>
            </a:r>
            <a:r>
              <a:rPr spc="-20" dirty="0"/>
              <a:t>instant</a:t>
            </a:r>
            <a:r>
              <a:rPr spc="-100" dirty="0"/>
              <a:t> </a:t>
            </a:r>
            <a:r>
              <a:rPr spc="-10" dirty="0"/>
              <a:t>detection</a:t>
            </a:r>
            <a:r>
              <a:rPr spc="-11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abnormal</a:t>
            </a:r>
            <a:r>
              <a:rPr spc="-70" dirty="0"/>
              <a:t> </a:t>
            </a:r>
            <a:r>
              <a:rPr dirty="0"/>
              <a:t>conditions</a:t>
            </a:r>
            <a:r>
              <a:rPr spc="-85" dirty="0"/>
              <a:t> </a:t>
            </a:r>
            <a:r>
              <a:rPr dirty="0"/>
              <a:t>and</a:t>
            </a:r>
            <a:r>
              <a:rPr spc="-100" dirty="0"/>
              <a:t> </a:t>
            </a:r>
            <a:r>
              <a:rPr dirty="0"/>
              <a:t>triggers</a:t>
            </a:r>
            <a:r>
              <a:rPr spc="-90" dirty="0"/>
              <a:t> </a:t>
            </a:r>
            <a:r>
              <a:rPr spc="-10" dirty="0"/>
              <a:t>rapid 	</a:t>
            </a:r>
            <a:r>
              <a:rPr dirty="0"/>
              <a:t>emergency</a:t>
            </a:r>
            <a:r>
              <a:rPr spc="-80" dirty="0"/>
              <a:t> </a:t>
            </a:r>
            <a:r>
              <a:rPr dirty="0"/>
              <a:t>response</a:t>
            </a:r>
            <a:r>
              <a:rPr spc="-95" dirty="0"/>
              <a:t> </a:t>
            </a:r>
            <a:r>
              <a:rPr dirty="0"/>
              <a:t>with</a:t>
            </a:r>
            <a:r>
              <a:rPr spc="-85" dirty="0"/>
              <a:t> </a:t>
            </a:r>
            <a:r>
              <a:rPr spc="-10" dirty="0"/>
              <a:t>precise</a:t>
            </a:r>
            <a:r>
              <a:rPr spc="-95" dirty="0"/>
              <a:t> </a:t>
            </a:r>
            <a:r>
              <a:rPr spc="-10" dirty="0"/>
              <a:t>location</a:t>
            </a:r>
            <a:r>
              <a:rPr spc="-95" dirty="0"/>
              <a:t> </a:t>
            </a:r>
            <a:r>
              <a:rPr spc="-10" dirty="0"/>
              <a:t>tracking.</a:t>
            </a:r>
          </a:p>
          <a:p>
            <a:pPr marL="462915" marR="1054100" indent="-450850" algn="just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469265" algn="l"/>
              </a:tabLst>
            </a:pPr>
            <a:r>
              <a:rPr dirty="0"/>
              <a:t>By</a:t>
            </a:r>
            <a:r>
              <a:rPr spc="10" dirty="0"/>
              <a:t> </a:t>
            </a:r>
            <a:r>
              <a:rPr dirty="0"/>
              <a:t>combining</a:t>
            </a:r>
            <a:r>
              <a:rPr spc="15" dirty="0"/>
              <a:t> </a:t>
            </a:r>
            <a:r>
              <a:rPr dirty="0"/>
              <a:t>wearable</a:t>
            </a:r>
            <a:r>
              <a:rPr spc="25" dirty="0"/>
              <a:t> </a:t>
            </a:r>
            <a:r>
              <a:rPr dirty="0"/>
              <a:t>IoT</a:t>
            </a:r>
            <a:r>
              <a:rPr spc="10" dirty="0"/>
              <a:t> </a:t>
            </a:r>
            <a:r>
              <a:rPr dirty="0"/>
              <a:t>devices,</a:t>
            </a:r>
            <a:r>
              <a:rPr spc="20" dirty="0"/>
              <a:t> </a:t>
            </a:r>
            <a:r>
              <a:rPr dirty="0"/>
              <a:t>AI</a:t>
            </a:r>
            <a:r>
              <a:rPr spc="15" dirty="0"/>
              <a:t> </a:t>
            </a:r>
            <a:r>
              <a:rPr dirty="0"/>
              <a:t>analytics,</a:t>
            </a:r>
            <a:r>
              <a:rPr spc="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crowd</a:t>
            </a:r>
            <a:r>
              <a:rPr spc="20" dirty="0"/>
              <a:t> </a:t>
            </a:r>
            <a:r>
              <a:rPr spc="-10" dirty="0"/>
              <a:t>density 	visualization,</a:t>
            </a:r>
            <a:r>
              <a:rPr spc="-6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system</a:t>
            </a:r>
            <a:r>
              <a:rPr spc="-80" dirty="0"/>
              <a:t> </a:t>
            </a:r>
            <a:r>
              <a:rPr dirty="0"/>
              <a:t>enhances</a:t>
            </a:r>
            <a:r>
              <a:rPr spc="-60" dirty="0"/>
              <a:t> </a:t>
            </a:r>
            <a:r>
              <a:rPr spc="-10" dirty="0"/>
              <a:t>safety,</a:t>
            </a:r>
            <a:r>
              <a:rPr spc="-75" dirty="0"/>
              <a:t> </a:t>
            </a:r>
            <a:r>
              <a:rPr spc="-20" dirty="0"/>
              <a:t>efficiency,</a:t>
            </a:r>
            <a:r>
              <a:rPr spc="-7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situational 	awareness.</a:t>
            </a:r>
          </a:p>
          <a:p>
            <a:pPr marL="465455" indent="-452755" algn="just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465455" algn="l"/>
              </a:tabLst>
            </a:pPr>
            <a:r>
              <a:rPr dirty="0"/>
              <a:t>The</a:t>
            </a:r>
            <a:r>
              <a:rPr spc="-80" dirty="0"/>
              <a:t> </a:t>
            </a: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offers</a:t>
            </a:r>
            <a:r>
              <a:rPr spc="-75" dirty="0"/>
              <a:t> </a:t>
            </a:r>
            <a:r>
              <a:rPr dirty="0"/>
              <a:t>a</a:t>
            </a:r>
            <a:r>
              <a:rPr spc="-120" dirty="0"/>
              <a:t> </a:t>
            </a:r>
            <a:r>
              <a:rPr dirty="0"/>
              <a:t>scalable,</a:t>
            </a:r>
            <a:r>
              <a:rPr spc="-95" dirty="0"/>
              <a:t> </a:t>
            </a:r>
            <a:r>
              <a:rPr spc="-20" dirty="0"/>
              <a:t>integrated</a:t>
            </a:r>
            <a:r>
              <a:rPr spc="-90" dirty="0"/>
              <a:t> </a:t>
            </a:r>
            <a:r>
              <a:rPr dirty="0"/>
              <a:t>solution</a:t>
            </a:r>
            <a:r>
              <a:rPr spc="-80" dirty="0"/>
              <a:t> </a:t>
            </a:r>
            <a:r>
              <a:rPr dirty="0"/>
              <a:t>for</a:t>
            </a:r>
            <a:r>
              <a:rPr spc="-114" dirty="0"/>
              <a:t> </a:t>
            </a:r>
            <a:r>
              <a:rPr dirty="0"/>
              <a:t>safer</a:t>
            </a:r>
            <a:r>
              <a:rPr spc="-9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spc="-10" dirty="0"/>
              <a:t>smarter</a:t>
            </a:r>
          </a:p>
          <a:p>
            <a:pPr marL="469265" algn="just">
              <a:lnSpc>
                <a:spcPct val="100000"/>
              </a:lnSpc>
              <a:spcBef>
                <a:spcPts val="15"/>
              </a:spcBef>
            </a:pPr>
            <a:r>
              <a:rPr dirty="0"/>
              <a:t>management</a:t>
            </a:r>
            <a:r>
              <a:rPr spc="-8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10" dirty="0"/>
              <a:t>public</a:t>
            </a:r>
            <a:r>
              <a:rPr spc="-114" dirty="0"/>
              <a:t> </a:t>
            </a:r>
            <a:r>
              <a:rPr spc="-10" dirty="0"/>
              <a:t>gatherings.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18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Conclusion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982075" y="57200"/>
            <a:ext cx="3190875" cy="1219835"/>
            <a:chOff x="8982075" y="57200"/>
            <a:chExt cx="3190875" cy="121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82075" y="57200"/>
              <a:ext cx="3190875" cy="1219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625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862075"/>
            <a:ext cx="10837545" cy="4407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latin typeface="Times New Roman"/>
                <a:cs typeface="Times New Roman"/>
              </a:rPr>
              <a:t>Authors,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Year,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Title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Paper,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Journal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/ Conference,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Volume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Page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Details,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DOI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(Samples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are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given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below)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5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1550" dirty="0">
                <a:latin typeface="Times New Roman"/>
                <a:cs typeface="Times New Roman"/>
              </a:rPr>
              <a:t>Kong,</a:t>
            </a:r>
            <a:r>
              <a:rPr sz="1550" spc="2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W.,</a:t>
            </a:r>
            <a:r>
              <a:rPr sz="1550" spc="2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&amp;</a:t>
            </a:r>
            <a:r>
              <a:rPr sz="1550" spc="2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Agarwal,</a:t>
            </a:r>
            <a:r>
              <a:rPr sz="1550" spc="229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P.P.</a:t>
            </a:r>
            <a:r>
              <a:rPr sz="1550" spc="229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(2020).</a:t>
            </a:r>
            <a:r>
              <a:rPr sz="1550" spc="2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Chest</a:t>
            </a:r>
            <a:r>
              <a:rPr sz="1550" spc="2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imaging</a:t>
            </a:r>
            <a:r>
              <a:rPr sz="1550" spc="229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appearance</a:t>
            </a:r>
            <a:r>
              <a:rPr sz="1550" spc="2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22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COVID-</a:t>
            </a:r>
            <a:r>
              <a:rPr sz="1550" dirty="0">
                <a:latin typeface="Times New Roman"/>
                <a:cs typeface="Times New Roman"/>
              </a:rPr>
              <a:t>19</a:t>
            </a:r>
            <a:r>
              <a:rPr sz="1550" spc="2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infection.</a:t>
            </a:r>
            <a:r>
              <a:rPr sz="1550" spc="2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Radiology:</a:t>
            </a:r>
            <a:r>
              <a:rPr sz="1550" spc="2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Cardiothoracic</a:t>
            </a:r>
            <a:r>
              <a:rPr sz="1550" spc="23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Imaging,</a:t>
            </a:r>
            <a:endParaRPr sz="15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610"/>
              </a:spcBef>
            </a:pPr>
            <a:r>
              <a:rPr sz="1550" spc="-10" dirty="0">
                <a:latin typeface="Times New Roman"/>
                <a:cs typeface="Times New Roman"/>
              </a:rPr>
              <a:t>2(1).</a:t>
            </a:r>
            <a:endParaRPr sz="1550">
              <a:latin typeface="Times New Roman"/>
              <a:cs typeface="Times New Roman"/>
            </a:endParaRPr>
          </a:p>
          <a:p>
            <a:pPr marL="469900" marR="132715" indent="-457200">
              <a:lnSpc>
                <a:spcPct val="185800"/>
              </a:lnSpc>
              <a:spcBef>
                <a:spcPts val="505"/>
              </a:spcBef>
              <a:buAutoNum type="arabicPeriod" startAt="2"/>
              <a:tabLst>
                <a:tab pos="469900" algn="l"/>
              </a:tabLst>
            </a:pPr>
            <a:r>
              <a:rPr sz="1550" dirty="0">
                <a:latin typeface="Times New Roman"/>
                <a:cs typeface="Times New Roman"/>
              </a:rPr>
              <a:t>Li,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Y.,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&amp;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Xia,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L.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(2020).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Coronavirus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Disease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2019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(COVID-</a:t>
            </a:r>
            <a:r>
              <a:rPr sz="1550" dirty="0">
                <a:latin typeface="Times New Roman"/>
                <a:cs typeface="Times New Roman"/>
              </a:rPr>
              <a:t>19):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Role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chest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CT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diagnosis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and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management.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American </a:t>
            </a:r>
            <a:r>
              <a:rPr sz="1550" dirty="0">
                <a:latin typeface="Times New Roman"/>
                <a:cs typeface="Times New Roman"/>
              </a:rPr>
              <a:t>Journal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Roentgenology,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1–7.</a:t>
            </a:r>
            <a:endParaRPr sz="15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600"/>
              </a:spcBef>
              <a:buAutoNum type="arabicPeriod" startAt="2"/>
              <a:tabLst>
                <a:tab pos="469265" algn="l"/>
              </a:tabLst>
            </a:pPr>
            <a:r>
              <a:rPr sz="1550" dirty="0">
                <a:latin typeface="Times New Roman"/>
                <a:cs typeface="Times New Roman"/>
              </a:rPr>
              <a:t>Mooney,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P.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(2020).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Kaggle</a:t>
            </a:r>
            <a:r>
              <a:rPr sz="1550" spc="2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chest</a:t>
            </a:r>
            <a:r>
              <a:rPr sz="1550" spc="22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x-</a:t>
            </a:r>
            <a:r>
              <a:rPr sz="1550" dirty="0">
                <a:latin typeface="Times New Roman"/>
                <a:cs typeface="Times New Roman"/>
              </a:rPr>
              <a:t>ray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images</a:t>
            </a:r>
            <a:r>
              <a:rPr sz="1550" spc="2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(pneumonia)</a:t>
            </a:r>
            <a:r>
              <a:rPr sz="1550" spc="2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dataset,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https://github.com/ieee8023/covid-chestxray-datase</a:t>
            </a:r>
            <a:endParaRPr sz="15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05"/>
              </a:spcBef>
              <a:buAutoNum type="arabicPeriod" startAt="2"/>
              <a:tabLst>
                <a:tab pos="469265" algn="l"/>
              </a:tabLst>
            </a:pPr>
            <a:r>
              <a:rPr sz="1550" dirty="0">
                <a:latin typeface="Times New Roman"/>
                <a:cs typeface="Times New Roman"/>
              </a:rPr>
              <a:t>Parnian</a:t>
            </a:r>
            <a:r>
              <a:rPr sz="1550" spc="4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Afshar.,</a:t>
            </a:r>
            <a:r>
              <a:rPr sz="1550" spc="4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Shahin</a:t>
            </a:r>
            <a:r>
              <a:rPr sz="1550" spc="4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Heidarian.,</a:t>
            </a:r>
            <a:r>
              <a:rPr sz="1550" spc="4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Farnoosh</a:t>
            </a:r>
            <a:r>
              <a:rPr sz="1550" spc="4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Naderkhani.,</a:t>
            </a:r>
            <a:r>
              <a:rPr sz="1550" spc="4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Anastasia</a:t>
            </a:r>
            <a:r>
              <a:rPr sz="1550" spc="4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Oikonomou.,</a:t>
            </a:r>
            <a:r>
              <a:rPr sz="1550" spc="4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Konstantinos,</a:t>
            </a:r>
            <a:r>
              <a:rPr sz="1550" spc="4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N.</a:t>
            </a:r>
            <a:r>
              <a:rPr sz="1550" spc="4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Plataniotis.,</a:t>
            </a:r>
            <a:r>
              <a:rPr sz="1550" spc="4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&amp;</a:t>
            </a:r>
            <a:r>
              <a:rPr sz="1550" spc="47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Arash</a:t>
            </a:r>
            <a:endParaRPr sz="15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595"/>
              </a:spcBef>
            </a:pPr>
            <a:r>
              <a:rPr sz="1550" dirty="0">
                <a:latin typeface="Times New Roman"/>
                <a:cs typeface="Times New Roman"/>
              </a:rPr>
              <a:t>Mohammadi.</a:t>
            </a:r>
            <a:r>
              <a:rPr sz="1550" spc="2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(2020).</a:t>
            </a:r>
            <a:r>
              <a:rPr sz="1550" spc="28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COVID-</a:t>
            </a:r>
            <a:r>
              <a:rPr sz="1550" dirty="0">
                <a:latin typeface="Times New Roman"/>
                <a:cs typeface="Times New Roman"/>
              </a:rPr>
              <a:t>CAPS:</a:t>
            </a:r>
            <a:r>
              <a:rPr sz="1550" spc="2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2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capsule</a:t>
            </a:r>
            <a:r>
              <a:rPr sz="1550" spc="28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network-</a:t>
            </a:r>
            <a:r>
              <a:rPr sz="1550" dirty="0">
                <a:latin typeface="Times New Roman"/>
                <a:cs typeface="Times New Roman"/>
              </a:rPr>
              <a:t>based</a:t>
            </a:r>
            <a:r>
              <a:rPr sz="1550" spc="2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framework</a:t>
            </a:r>
            <a:r>
              <a:rPr sz="1550" spc="2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for</a:t>
            </a:r>
            <a:r>
              <a:rPr sz="1550" spc="2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identification</a:t>
            </a:r>
            <a:r>
              <a:rPr sz="1550" spc="2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28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COVID-</a:t>
            </a:r>
            <a:r>
              <a:rPr sz="1550" dirty="0">
                <a:latin typeface="Times New Roman"/>
                <a:cs typeface="Times New Roman"/>
              </a:rPr>
              <a:t>19</a:t>
            </a:r>
            <a:r>
              <a:rPr sz="1550" spc="2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cases</a:t>
            </a:r>
            <a:r>
              <a:rPr sz="1550" spc="2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from</a:t>
            </a:r>
            <a:r>
              <a:rPr sz="1550" spc="28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X-</a:t>
            </a:r>
            <a:r>
              <a:rPr sz="1550" spc="-25" dirty="0">
                <a:latin typeface="Times New Roman"/>
                <a:cs typeface="Times New Roman"/>
              </a:rPr>
              <a:t>ray</a:t>
            </a:r>
            <a:endParaRPr sz="15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595"/>
              </a:spcBef>
            </a:pPr>
            <a:r>
              <a:rPr sz="1550" dirty="0">
                <a:latin typeface="Times New Roman"/>
                <a:cs typeface="Times New Roman"/>
              </a:rPr>
              <a:t>images,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Pattern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Recognition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Letters,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138,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638–643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5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 startAt="5"/>
              <a:tabLst>
                <a:tab pos="469265" algn="l"/>
              </a:tabLst>
            </a:pPr>
            <a:r>
              <a:rPr sz="1550" dirty="0">
                <a:latin typeface="Times New Roman"/>
                <a:cs typeface="Times New Roman"/>
              </a:rPr>
              <a:t>Singhal,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T.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(2020).</a:t>
            </a:r>
            <a:r>
              <a:rPr sz="1550" spc="-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review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corona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virus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disease-</a:t>
            </a:r>
            <a:r>
              <a:rPr sz="1550" dirty="0">
                <a:latin typeface="Times New Roman"/>
                <a:cs typeface="Times New Roman"/>
              </a:rPr>
              <a:t>2019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(COVID-</a:t>
            </a:r>
            <a:r>
              <a:rPr sz="1550" dirty="0">
                <a:latin typeface="Times New Roman"/>
                <a:cs typeface="Times New Roman"/>
              </a:rPr>
              <a:t>19).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Indian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Journal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Pediatrics,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87,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281–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286.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4883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References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982075" y="57200"/>
            <a:ext cx="3190875" cy="1219835"/>
            <a:chOff x="8982075" y="57200"/>
            <a:chExt cx="3190875" cy="121983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82075" y="57200"/>
              <a:ext cx="3190875" cy="1219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91625" y="266700"/>
              <a:ext cx="2590800" cy="6191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74060">
              <a:lnSpc>
                <a:spcPct val="100000"/>
              </a:lnSpc>
              <a:spcBef>
                <a:spcPts val="105"/>
              </a:spcBef>
            </a:pPr>
            <a:r>
              <a:rPr dirty="0"/>
              <a:t>Partial</a:t>
            </a:r>
            <a:r>
              <a:rPr spc="-140" dirty="0"/>
              <a:t> </a:t>
            </a:r>
            <a:r>
              <a:rPr spc="-10" dirty="0"/>
              <a:t>Implementation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3213" y="1297311"/>
            <a:ext cx="9199186" cy="44552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74060">
              <a:lnSpc>
                <a:spcPct val="100000"/>
              </a:lnSpc>
              <a:spcBef>
                <a:spcPts val="105"/>
              </a:spcBef>
            </a:pPr>
            <a:r>
              <a:rPr dirty="0"/>
              <a:t>Partial</a:t>
            </a:r>
            <a:r>
              <a:rPr spc="-130" dirty="0"/>
              <a:t> </a:t>
            </a:r>
            <a:r>
              <a:rPr spc="-10" dirty="0"/>
              <a:t>Implementation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15335" y="1308214"/>
            <a:ext cx="10002520" cy="4599305"/>
            <a:chOff x="915335" y="1308214"/>
            <a:chExt cx="10002520" cy="45993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5335" y="1308214"/>
              <a:ext cx="10002271" cy="45987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95400" y="1981199"/>
              <a:ext cx="381000" cy="3721100"/>
            </a:xfrm>
            <a:custGeom>
              <a:avLst/>
              <a:gdLst/>
              <a:ahLst/>
              <a:cxnLst/>
              <a:rect l="l" t="t" r="r" b="b"/>
              <a:pathLst>
                <a:path w="381000" h="3721100">
                  <a:moveTo>
                    <a:pt x="3048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304800" y="228600"/>
                  </a:lnTo>
                  <a:lnTo>
                    <a:pt x="304800" y="0"/>
                  </a:lnTo>
                  <a:close/>
                </a:path>
                <a:path w="381000" h="3721100">
                  <a:moveTo>
                    <a:pt x="361950" y="3492373"/>
                  </a:moveTo>
                  <a:lnTo>
                    <a:pt x="57150" y="3492373"/>
                  </a:lnTo>
                  <a:lnTo>
                    <a:pt x="57150" y="3720973"/>
                  </a:lnTo>
                  <a:lnTo>
                    <a:pt x="361950" y="3720973"/>
                  </a:lnTo>
                  <a:lnTo>
                    <a:pt x="361950" y="3492373"/>
                  </a:lnTo>
                  <a:close/>
                </a:path>
                <a:path w="381000" h="3721100">
                  <a:moveTo>
                    <a:pt x="381000" y="1371600"/>
                  </a:moveTo>
                  <a:lnTo>
                    <a:pt x="76200" y="1371600"/>
                  </a:lnTo>
                  <a:lnTo>
                    <a:pt x="76200" y="1676400"/>
                  </a:lnTo>
                  <a:lnTo>
                    <a:pt x="381000" y="1676400"/>
                  </a:lnTo>
                  <a:lnTo>
                    <a:pt x="381000" y="1371600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8200" y="249123"/>
            <a:ext cx="11015980" cy="5531485"/>
            <a:chOff x="1119455" y="113475"/>
            <a:chExt cx="11015980" cy="55314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9455" y="1276413"/>
              <a:ext cx="9852842" cy="43679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24000" y="2209799"/>
              <a:ext cx="323850" cy="3048000"/>
            </a:xfrm>
            <a:custGeom>
              <a:avLst/>
              <a:gdLst/>
              <a:ahLst/>
              <a:cxnLst/>
              <a:rect l="l" t="t" r="r" b="b"/>
              <a:pathLst>
                <a:path w="323850" h="3048000">
                  <a:moveTo>
                    <a:pt x="3048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304800" y="228600"/>
                  </a:lnTo>
                  <a:lnTo>
                    <a:pt x="304800" y="0"/>
                  </a:lnTo>
                  <a:close/>
                </a:path>
                <a:path w="323850" h="3048000">
                  <a:moveTo>
                    <a:pt x="321310" y="2819400"/>
                  </a:moveTo>
                  <a:lnTo>
                    <a:pt x="16510" y="2819400"/>
                  </a:lnTo>
                  <a:lnTo>
                    <a:pt x="16510" y="3048000"/>
                  </a:lnTo>
                  <a:lnTo>
                    <a:pt x="321310" y="3048000"/>
                  </a:lnTo>
                  <a:lnTo>
                    <a:pt x="321310" y="2819400"/>
                  </a:lnTo>
                  <a:close/>
                </a:path>
                <a:path w="323850" h="3048000">
                  <a:moveTo>
                    <a:pt x="323799" y="457200"/>
                  </a:moveTo>
                  <a:lnTo>
                    <a:pt x="35560" y="457200"/>
                  </a:lnTo>
                  <a:lnTo>
                    <a:pt x="35560" y="685800"/>
                  </a:lnTo>
                  <a:lnTo>
                    <a:pt x="323799" y="685800"/>
                  </a:lnTo>
                  <a:lnTo>
                    <a:pt x="323799" y="457200"/>
                  </a:lnTo>
                  <a:close/>
                </a:path>
              </a:pathLst>
            </a:custGeom>
            <a:solidFill>
              <a:srgbClr val="17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74060">
              <a:lnSpc>
                <a:spcPct val="100000"/>
              </a:lnSpc>
              <a:spcBef>
                <a:spcPts val="105"/>
              </a:spcBef>
            </a:pPr>
            <a:r>
              <a:rPr dirty="0"/>
              <a:t>Partial</a:t>
            </a:r>
            <a:r>
              <a:rPr spc="-130" dirty="0"/>
              <a:t> </a:t>
            </a:r>
            <a:r>
              <a:rPr spc="-10" dirty="0"/>
              <a:t>Implementation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54402924-5EF0-5515-EDA7-BF06248DAE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8644" y="224739"/>
            <a:ext cx="108147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7406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E37E7F-AD6E-9527-81EF-FE750A238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19200"/>
            <a:ext cx="9660674" cy="516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05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F54EDBA-37CD-E4D2-3E5A-224821B92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070661"/>
            <a:ext cx="10308125" cy="5562600"/>
          </a:xfrm>
          <a:prstGeom prst="rect">
            <a:avLst/>
          </a:prstGeom>
        </p:spPr>
      </p:pic>
      <p:sp>
        <p:nvSpPr>
          <p:cNvPr id="3" name="object 5">
            <a:extLst>
              <a:ext uri="{FF2B5EF4-FFF2-40B4-BE49-F238E27FC236}">
                <a16:creationId xmlns:a16="http://schemas.microsoft.com/office/drawing/2014/main" id="{53301A85-7825-0C48-EE50-5511F16AF5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8644" y="224739"/>
            <a:ext cx="108147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7406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010116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A570F3-931E-E0EC-2ECB-1C40AB100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43000"/>
            <a:ext cx="9829800" cy="5287826"/>
          </a:xfrm>
          <a:prstGeom prst="rect">
            <a:avLst/>
          </a:prstGeom>
        </p:spPr>
      </p:pic>
      <p:sp>
        <p:nvSpPr>
          <p:cNvPr id="3" name="object 5">
            <a:extLst>
              <a:ext uri="{FF2B5EF4-FFF2-40B4-BE49-F238E27FC236}">
                <a16:creationId xmlns:a16="http://schemas.microsoft.com/office/drawing/2014/main" id="{F0727C4B-7EDA-BC28-AC5E-1080B07F92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8644" y="224739"/>
            <a:ext cx="108147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7406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354509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1560</Words>
  <Application>Microsoft Office PowerPoint</Application>
  <PresentationFormat>Widescreen</PresentationFormat>
  <Paragraphs>202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Crowd Sense  </vt:lpstr>
      <vt:lpstr>Agenda</vt:lpstr>
      <vt:lpstr>Introduction</vt:lpstr>
      <vt:lpstr>Review of literature</vt:lpstr>
      <vt:lpstr>PowerPoint Presentation</vt:lpstr>
      <vt:lpstr>Observations from the Literature Review</vt:lpstr>
      <vt:lpstr>Limitations from the Literature Review</vt:lpstr>
      <vt:lpstr>Problem Statement</vt:lpstr>
      <vt:lpstr>Proposed Idea</vt:lpstr>
      <vt:lpstr>Objectives of the Idea</vt:lpstr>
      <vt:lpstr>Proposed Research</vt:lpstr>
      <vt:lpstr>Hardware Requirements</vt:lpstr>
      <vt:lpstr>Software Requirements</vt:lpstr>
      <vt:lpstr>Architecture</vt:lpstr>
      <vt:lpstr>Proposed Modules</vt:lpstr>
      <vt:lpstr>Novelty of the Proposed Idea</vt:lpstr>
      <vt:lpstr>Conclusion</vt:lpstr>
      <vt:lpstr>References</vt:lpstr>
      <vt:lpstr>Partial Implementation</vt:lpstr>
      <vt:lpstr>Partial Implementation</vt:lpstr>
      <vt:lpstr>Partial Implementation</vt:lpstr>
      <vt:lpstr>Implementation</vt:lpstr>
      <vt:lpstr>Implementation</vt:lpstr>
      <vt:lpstr>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Subhi Jose</dc:creator>
  <cp:lastModifiedBy>HARIDUTHRAM P S</cp:lastModifiedBy>
  <cp:revision>5</cp:revision>
  <dcterms:created xsi:type="dcterms:W3CDTF">2026-02-16T04:59:04Z</dcterms:created>
  <dcterms:modified xsi:type="dcterms:W3CDTF">2026-04-12T12:54:18Z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2026-02-16T00:00:00Z</vt:filetime>
  </property>
  <property fmtid="{D5CDD505-2E9C-101B-9397-08002B2CF9AE}" pid="5" name="Producer">
    <vt:lpwstr>3-Heights(TM) PDF Security Shell 4.8.25.2 (http://www.pdf-tools.com)</vt:lpwstr>
  </property>
</Properties>
</file>